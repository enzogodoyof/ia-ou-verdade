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58" r:id="rId4"/>
    <p:sldId id="279" r:id="rId5"/>
    <p:sldId id="28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1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89531F02-FE7E-47CF-9DD0-8DFA6C08EE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215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m 58">
            <a:extLst>
              <a:ext uri="{FF2B5EF4-FFF2-40B4-BE49-F238E27FC236}">
                <a16:creationId xmlns:a16="http://schemas.microsoft.com/office/drawing/2014/main" id="{D5567303-4DBE-4466-A289-3D17F2AD17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22">
            <a:extLst>
              <a:ext uri="{FF2B5EF4-FFF2-40B4-BE49-F238E27FC236}">
                <a16:creationId xmlns:a16="http://schemas.microsoft.com/office/drawing/2014/main" id="{63E062EE-9BA1-40C8-8C12-1499043DE0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80011" y="1752600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9" name="Espaço Reservado para Texto 22">
            <a:extLst>
              <a:ext uri="{FF2B5EF4-FFF2-40B4-BE49-F238E27FC236}">
                <a16:creationId xmlns:a16="http://schemas.microsoft.com/office/drawing/2014/main" id="{2EED64F5-98ED-49CD-A423-81C85D47AC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80011" y="2188184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10" name="Espaço Reservado para Texto 22">
            <a:extLst>
              <a:ext uri="{FF2B5EF4-FFF2-40B4-BE49-F238E27FC236}">
                <a16:creationId xmlns:a16="http://schemas.microsoft.com/office/drawing/2014/main" id="{B87EC917-9411-4BC8-9160-0531F5A433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80011" y="2623768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11" name="Espaço Reservado para Texto 22">
            <a:extLst>
              <a:ext uri="{FF2B5EF4-FFF2-40B4-BE49-F238E27FC236}">
                <a16:creationId xmlns:a16="http://schemas.microsoft.com/office/drawing/2014/main" id="{B7451A2F-0023-4AE1-8F2D-C2E914EB54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80011" y="3059352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12" name="Espaço Reservado para Texto 22">
            <a:extLst>
              <a:ext uri="{FF2B5EF4-FFF2-40B4-BE49-F238E27FC236}">
                <a16:creationId xmlns:a16="http://schemas.microsoft.com/office/drawing/2014/main" id="{CDE632D2-E668-4F04-AC8D-7FC4A5D90B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80011" y="3494936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13" name="Espaço Reservado para Texto 22">
            <a:extLst>
              <a:ext uri="{FF2B5EF4-FFF2-40B4-BE49-F238E27FC236}">
                <a16:creationId xmlns:a16="http://schemas.microsoft.com/office/drawing/2014/main" id="{D932D724-7013-4F2C-9486-4B4F85373A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80011" y="3930520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14" name="Espaço Reservado para Texto 22">
            <a:extLst>
              <a:ext uri="{FF2B5EF4-FFF2-40B4-BE49-F238E27FC236}">
                <a16:creationId xmlns:a16="http://schemas.microsoft.com/office/drawing/2014/main" id="{8382DE5A-88CB-4F55-8387-6B8E314A92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80011" y="4366104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15" name="Espaço Reservado para Texto 22">
            <a:extLst>
              <a:ext uri="{FF2B5EF4-FFF2-40B4-BE49-F238E27FC236}">
                <a16:creationId xmlns:a16="http://schemas.microsoft.com/office/drawing/2014/main" id="{6AC84B4E-3BD0-4BF8-9EC7-801FCEB4BD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80011" y="4801686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16" name="Espaço Reservado para Texto 22">
            <a:extLst>
              <a:ext uri="{FF2B5EF4-FFF2-40B4-BE49-F238E27FC236}">
                <a16:creationId xmlns:a16="http://schemas.microsoft.com/office/drawing/2014/main" id="{4BEC7447-1A45-4499-B483-8F490455C2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80011" y="5243417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17" name="Espaço Reservado para Texto 22">
            <a:extLst>
              <a:ext uri="{FF2B5EF4-FFF2-40B4-BE49-F238E27FC236}">
                <a16:creationId xmlns:a16="http://schemas.microsoft.com/office/drawing/2014/main" id="{46CF233B-2DD0-4899-A084-8E12953ADD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80011" y="5678999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28" name="Espaço Reservado para Texto 22">
            <a:extLst>
              <a:ext uri="{FF2B5EF4-FFF2-40B4-BE49-F238E27FC236}">
                <a16:creationId xmlns:a16="http://schemas.microsoft.com/office/drawing/2014/main" id="{58D17ABB-15E9-4C23-AB99-AF01F2A6FD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15000" y="1746453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29" name="Espaço Reservado para Texto 22">
            <a:extLst>
              <a:ext uri="{FF2B5EF4-FFF2-40B4-BE49-F238E27FC236}">
                <a16:creationId xmlns:a16="http://schemas.microsoft.com/office/drawing/2014/main" id="{684C693B-775B-4DD8-BE8B-F369CAC5266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95011" y="1734159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30" name="Espaço Reservado para Texto 22">
            <a:extLst>
              <a:ext uri="{FF2B5EF4-FFF2-40B4-BE49-F238E27FC236}">
                <a16:creationId xmlns:a16="http://schemas.microsoft.com/office/drawing/2014/main" id="{42FAC3D8-648A-439C-BB84-3B4BE4B93A1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1120" y="1746453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31" name="Espaço Reservado para Texto 22">
            <a:extLst>
              <a:ext uri="{FF2B5EF4-FFF2-40B4-BE49-F238E27FC236}">
                <a16:creationId xmlns:a16="http://schemas.microsoft.com/office/drawing/2014/main" id="{C72B5970-46BB-48A2-ADCB-07924577B2B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5000" y="2185110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32" name="Espaço Reservado para Texto 22">
            <a:extLst>
              <a:ext uri="{FF2B5EF4-FFF2-40B4-BE49-F238E27FC236}">
                <a16:creationId xmlns:a16="http://schemas.microsoft.com/office/drawing/2014/main" id="{7165DE26-F73E-460D-864D-E47BFA6447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95011" y="2172816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33" name="Espaço Reservado para Texto 22">
            <a:extLst>
              <a:ext uri="{FF2B5EF4-FFF2-40B4-BE49-F238E27FC236}">
                <a16:creationId xmlns:a16="http://schemas.microsoft.com/office/drawing/2014/main" id="{A988AF43-7499-40C2-9249-F29DFCAC534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61120" y="2185110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34" name="Espaço Reservado para Texto 22">
            <a:extLst>
              <a:ext uri="{FF2B5EF4-FFF2-40B4-BE49-F238E27FC236}">
                <a16:creationId xmlns:a16="http://schemas.microsoft.com/office/drawing/2014/main" id="{B5D54225-40C0-41F7-AFD3-C78914ADE5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15000" y="2632618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35" name="Espaço Reservado para Texto 22">
            <a:extLst>
              <a:ext uri="{FF2B5EF4-FFF2-40B4-BE49-F238E27FC236}">
                <a16:creationId xmlns:a16="http://schemas.microsoft.com/office/drawing/2014/main" id="{6090F6E6-F459-49FB-AE93-41EC243582E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95011" y="2620324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36" name="Espaço Reservado para Texto 22">
            <a:extLst>
              <a:ext uri="{FF2B5EF4-FFF2-40B4-BE49-F238E27FC236}">
                <a16:creationId xmlns:a16="http://schemas.microsoft.com/office/drawing/2014/main" id="{74D8AAC4-A242-48E1-B202-80AD6BCABEB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61120" y="2632618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37" name="Espaço Reservado para Texto 22">
            <a:extLst>
              <a:ext uri="{FF2B5EF4-FFF2-40B4-BE49-F238E27FC236}">
                <a16:creationId xmlns:a16="http://schemas.microsoft.com/office/drawing/2014/main" id="{9EE6B00C-0AE3-46E2-B053-48E0733392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715000" y="3071275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38" name="Espaço Reservado para Texto 22">
            <a:extLst>
              <a:ext uri="{FF2B5EF4-FFF2-40B4-BE49-F238E27FC236}">
                <a16:creationId xmlns:a16="http://schemas.microsoft.com/office/drawing/2014/main" id="{DFA37428-F440-420A-9299-30D1F7152C7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95011" y="3058981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39" name="Espaço Reservado para Texto 22">
            <a:extLst>
              <a:ext uri="{FF2B5EF4-FFF2-40B4-BE49-F238E27FC236}">
                <a16:creationId xmlns:a16="http://schemas.microsoft.com/office/drawing/2014/main" id="{8AB72889-21D6-497C-9579-61C66E26BE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961120" y="3071275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40" name="Espaço Reservado para Texto 22">
            <a:extLst>
              <a:ext uri="{FF2B5EF4-FFF2-40B4-BE49-F238E27FC236}">
                <a16:creationId xmlns:a16="http://schemas.microsoft.com/office/drawing/2014/main" id="{B9D3C51F-E668-4BAE-B051-54D3D1DC1E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734594" y="3501352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41" name="Espaço Reservado para Texto 22">
            <a:extLst>
              <a:ext uri="{FF2B5EF4-FFF2-40B4-BE49-F238E27FC236}">
                <a16:creationId xmlns:a16="http://schemas.microsoft.com/office/drawing/2014/main" id="{8DDAC01A-F414-475E-A8BF-A39A84EE5CB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914605" y="3489058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42" name="Espaço Reservado para Texto 22">
            <a:extLst>
              <a:ext uri="{FF2B5EF4-FFF2-40B4-BE49-F238E27FC236}">
                <a16:creationId xmlns:a16="http://schemas.microsoft.com/office/drawing/2014/main" id="{D861E9F2-47FF-465D-82AE-D5785799F5A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80714" y="3501352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43" name="Espaço Reservado para Texto 22">
            <a:extLst>
              <a:ext uri="{FF2B5EF4-FFF2-40B4-BE49-F238E27FC236}">
                <a16:creationId xmlns:a16="http://schemas.microsoft.com/office/drawing/2014/main" id="{404B3692-756F-471F-BB36-1442D27FEFE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734594" y="3940009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44" name="Espaço Reservado para Texto 22">
            <a:extLst>
              <a:ext uri="{FF2B5EF4-FFF2-40B4-BE49-F238E27FC236}">
                <a16:creationId xmlns:a16="http://schemas.microsoft.com/office/drawing/2014/main" id="{8F1E29AE-A718-475A-B1D4-F910DADF7D9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14605" y="3927715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45" name="Espaço Reservado para Texto 22">
            <a:extLst>
              <a:ext uri="{FF2B5EF4-FFF2-40B4-BE49-F238E27FC236}">
                <a16:creationId xmlns:a16="http://schemas.microsoft.com/office/drawing/2014/main" id="{363A7C2C-A9C3-4F83-95B0-CF8DF4BE38A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980714" y="3940009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46" name="Espaço Reservado para Texto 22">
            <a:extLst>
              <a:ext uri="{FF2B5EF4-FFF2-40B4-BE49-F238E27FC236}">
                <a16:creationId xmlns:a16="http://schemas.microsoft.com/office/drawing/2014/main" id="{1045DD5D-5F6A-4564-8E0D-7D4ED1E4BED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734594" y="4387517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47" name="Espaço Reservado para Texto 22">
            <a:extLst>
              <a:ext uri="{FF2B5EF4-FFF2-40B4-BE49-F238E27FC236}">
                <a16:creationId xmlns:a16="http://schemas.microsoft.com/office/drawing/2014/main" id="{F7681156-1397-4BA8-9832-A699FA6E44F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914605" y="4375223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48" name="Espaço Reservado para Texto 22">
            <a:extLst>
              <a:ext uri="{FF2B5EF4-FFF2-40B4-BE49-F238E27FC236}">
                <a16:creationId xmlns:a16="http://schemas.microsoft.com/office/drawing/2014/main" id="{53F790CA-D244-421D-BDD7-C7DB8846644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980714" y="4387517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49" name="Espaço Reservado para Texto 22">
            <a:extLst>
              <a:ext uri="{FF2B5EF4-FFF2-40B4-BE49-F238E27FC236}">
                <a16:creationId xmlns:a16="http://schemas.microsoft.com/office/drawing/2014/main" id="{D6772C4F-B72B-4A8B-AF59-9EF22A47B89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734594" y="4826174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50" name="Espaço Reservado para Texto 22">
            <a:extLst>
              <a:ext uri="{FF2B5EF4-FFF2-40B4-BE49-F238E27FC236}">
                <a16:creationId xmlns:a16="http://schemas.microsoft.com/office/drawing/2014/main" id="{E8AF76E9-6328-4DA0-B7DE-868F985B22C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914605" y="4813880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51" name="Espaço Reservado para Texto 22">
            <a:extLst>
              <a:ext uri="{FF2B5EF4-FFF2-40B4-BE49-F238E27FC236}">
                <a16:creationId xmlns:a16="http://schemas.microsoft.com/office/drawing/2014/main" id="{56B849D4-A9DA-46A1-ABF9-6211B6551B1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980714" y="4826174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52" name="Espaço Reservado para Texto 22">
            <a:extLst>
              <a:ext uri="{FF2B5EF4-FFF2-40B4-BE49-F238E27FC236}">
                <a16:creationId xmlns:a16="http://schemas.microsoft.com/office/drawing/2014/main" id="{73A0017E-AD77-45B4-9B0A-14466047147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754188" y="5222285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53" name="Espaço Reservado para Texto 22">
            <a:extLst>
              <a:ext uri="{FF2B5EF4-FFF2-40B4-BE49-F238E27FC236}">
                <a16:creationId xmlns:a16="http://schemas.microsoft.com/office/drawing/2014/main" id="{B46F2DFE-627C-4BA8-B774-C678AB71654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934199" y="5209991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54" name="Espaço Reservado para Texto 22">
            <a:extLst>
              <a:ext uri="{FF2B5EF4-FFF2-40B4-BE49-F238E27FC236}">
                <a16:creationId xmlns:a16="http://schemas.microsoft.com/office/drawing/2014/main" id="{425F8C12-56AA-44CA-B366-210A8D488E3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000308" y="5222285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55" name="Espaço Reservado para Texto 22">
            <a:extLst>
              <a:ext uri="{FF2B5EF4-FFF2-40B4-BE49-F238E27FC236}">
                <a16:creationId xmlns:a16="http://schemas.microsoft.com/office/drawing/2014/main" id="{CC11CEB4-AD9B-44A3-A105-71EC836CE1F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754188" y="5660942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56" name="Espaço Reservado para Texto 22">
            <a:extLst>
              <a:ext uri="{FF2B5EF4-FFF2-40B4-BE49-F238E27FC236}">
                <a16:creationId xmlns:a16="http://schemas.microsoft.com/office/drawing/2014/main" id="{ADA7E93E-C152-4DF5-86A3-F6661D75196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934199" y="5648648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57" name="Espaço Reservado para Texto 22">
            <a:extLst>
              <a:ext uri="{FF2B5EF4-FFF2-40B4-BE49-F238E27FC236}">
                <a16:creationId xmlns:a16="http://schemas.microsoft.com/office/drawing/2014/main" id="{2719A983-0490-45CF-8A76-FE6E609731D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000308" y="5660942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</p:spTree>
    <p:extLst>
      <p:ext uri="{BB962C8B-B14F-4D97-AF65-F5344CB8AC3E}">
        <p14:creationId xmlns:p14="http://schemas.microsoft.com/office/powerpoint/2010/main" val="1455304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4341094-7F00-4945-A852-4890436DF5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22">
            <a:extLst>
              <a:ext uri="{FF2B5EF4-FFF2-40B4-BE49-F238E27FC236}">
                <a16:creationId xmlns:a16="http://schemas.microsoft.com/office/drawing/2014/main" id="{D216A618-5610-4124-A190-106197316E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52800" y="1600200"/>
            <a:ext cx="7315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Crie um nome para o seu projeto.</a:t>
            </a:r>
          </a:p>
        </p:txBody>
      </p:sp>
      <p:sp>
        <p:nvSpPr>
          <p:cNvPr id="9" name="Espaço Reservado para Texto 22">
            <a:extLst>
              <a:ext uri="{FF2B5EF4-FFF2-40B4-BE49-F238E27FC236}">
                <a16:creationId xmlns:a16="http://schemas.microsoft.com/office/drawing/2014/main" id="{E89C08DB-E872-4E8E-BA00-6922B442B0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52800" y="2209800"/>
            <a:ext cx="7315200" cy="6858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 do professor.</a:t>
            </a:r>
          </a:p>
        </p:txBody>
      </p:sp>
      <p:sp>
        <p:nvSpPr>
          <p:cNvPr id="10" name="Espaço Reservado para Texto 22">
            <a:extLst>
              <a:ext uri="{FF2B5EF4-FFF2-40B4-BE49-F238E27FC236}">
                <a16:creationId xmlns:a16="http://schemas.microsoft.com/office/drawing/2014/main" id="{28727C01-1756-4018-8CE7-0C8AF0DEF3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2800" y="2926080"/>
            <a:ext cx="7315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seu nome.</a:t>
            </a:r>
          </a:p>
        </p:txBody>
      </p:sp>
      <p:sp>
        <p:nvSpPr>
          <p:cNvPr id="11" name="Espaço Reservado para Texto 22">
            <a:extLst>
              <a:ext uri="{FF2B5EF4-FFF2-40B4-BE49-F238E27FC236}">
                <a16:creationId xmlns:a16="http://schemas.microsoft.com/office/drawing/2014/main" id="{03486A24-96EE-4B32-ADE9-487E4B21B38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2800" y="3535680"/>
            <a:ext cx="7315200" cy="6858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seu RA.</a:t>
            </a:r>
          </a:p>
        </p:txBody>
      </p:sp>
      <p:sp>
        <p:nvSpPr>
          <p:cNvPr id="12" name="Espaço Reservado para Texto 22">
            <a:extLst>
              <a:ext uri="{FF2B5EF4-FFF2-40B4-BE49-F238E27FC236}">
                <a16:creationId xmlns:a16="http://schemas.microsoft.com/office/drawing/2014/main" id="{ED4438AD-FCA9-4548-9764-3B861D2D8B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52800" y="4282440"/>
            <a:ext cx="7315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seu curso.</a:t>
            </a:r>
          </a:p>
        </p:txBody>
      </p:sp>
      <p:sp>
        <p:nvSpPr>
          <p:cNvPr id="13" name="Espaço Reservado para Texto 22">
            <a:extLst>
              <a:ext uri="{FF2B5EF4-FFF2-40B4-BE49-F238E27FC236}">
                <a16:creationId xmlns:a16="http://schemas.microsoft.com/office/drawing/2014/main" id="{4925CB75-6BD0-4F1D-82CD-1AEBD2C0E7B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52800" y="4892040"/>
            <a:ext cx="7315200" cy="6858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semestre/módulo.</a:t>
            </a:r>
          </a:p>
        </p:txBody>
      </p:sp>
    </p:spTree>
    <p:extLst>
      <p:ext uri="{BB962C8B-B14F-4D97-AF65-F5344CB8AC3E}">
        <p14:creationId xmlns:p14="http://schemas.microsoft.com/office/powerpoint/2010/main" val="54811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BA365CAE-4F4D-4EF1-87FE-272D68591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380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B83F0B0-F6C2-46C5-960F-40FBD6730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2E4DFDC9-E786-4BAE-A98C-2CF1F173AF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5189" y="1828801"/>
            <a:ext cx="97536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7F"/>
                </a:solidFill>
              </a:defRPr>
            </a:lvl1pPr>
          </a:lstStyle>
          <a:p>
            <a:pPr lvl="0"/>
            <a:r>
              <a:rPr lang="pt-BR" dirty="0"/>
              <a:t>Descreva onde a ação ocorrerá.</a:t>
            </a:r>
          </a:p>
        </p:txBody>
      </p:sp>
      <p:sp>
        <p:nvSpPr>
          <p:cNvPr id="11" name="Espaço Reservado para Texto 6">
            <a:extLst>
              <a:ext uri="{FF2B5EF4-FFF2-40B4-BE49-F238E27FC236}">
                <a16:creationId xmlns:a16="http://schemas.microsoft.com/office/drawing/2014/main" id="{2CE5BDCB-BC35-43F5-A968-E9CA5421A6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5189" y="3324498"/>
            <a:ext cx="97536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Apresente a razão pela qual optou por desenvolver a ação, após visita ao local.</a:t>
            </a:r>
            <a:endParaRPr lang="pt-BR" dirty="0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EAB8B31C-0BFF-4795-AEB7-5A4466C207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5189" y="4900748"/>
            <a:ext cx="9753600" cy="13476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</a:rPr>
              <a:t>Caracterize e quantifique as pessoas/grupos beneficiados com o projeto.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8819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054C4C0-7475-4FB0-9597-A86C18B4F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A7BBC8D-7770-4C97-A667-8E4A4FFB05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5189" y="1828800"/>
            <a:ext cx="9753600" cy="4495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7F"/>
                </a:solidFill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Apresente quais são os objetivos da proposta.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596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7E3DD29-AC2E-4343-BF40-6DEF8D84E1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Imagem 3">
            <a:extLst>
              <a:ext uri="{FF2B5EF4-FFF2-40B4-BE49-F238E27FC236}">
                <a16:creationId xmlns:a16="http://schemas.microsoft.com/office/drawing/2014/main" id="{23598B8A-F309-43CC-9DAB-625530E1641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72143" y="1828800"/>
            <a:ext cx="4678680" cy="304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7F"/>
                </a:solidFill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uma imagem do local.</a:t>
            </a:r>
            <a:endParaRPr lang="pt-BR" dirty="0"/>
          </a:p>
        </p:txBody>
      </p:sp>
      <p:sp>
        <p:nvSpPr>
          <p:cNvPr id="9" name="Espaço Reservado para Imagem 3">
            <a:extLst>
              <a:ext uri="{FF2B5EF4-FFF2-40B4-BE49-F238E27FC236}">
                <a16:creationId xmlns:a16="http://schemas.microsoft.com/office/drawing/2014/main" id="{52A8DDFF-3368-428C-96AA-144CEC0C618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51121" y="1828800"/>
            <a:ext cx="4678680" cy="304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7F"/>
                </a:solidFill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uma imagem do local.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791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00C57A6-55B2-4455-98A5-89FA2EDC52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27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41F5F78-E654-403A-9E55-CE19C566B6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CB5F9269-5F2F-4410-843F-BA7DDA712633}"/>
              </a:ext>
            </a:extLst>
          </p:cNvPr>
          <p:cNvSpPr/>
          <p:nvPr userDrawn="1"/>
        </p:nvSpPr>
        <p:spPr>
          <a:xfrm>
            <a:off x="370782" y="1802282"/>
            <a:ext cx="4320000" cy="439928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spaço Reservado para Texto 6">
            <a:extLst>
              <a:ext uri="{FF2B5EF4-FFF2-40B4-BE49-F238E27FC236}">
                <a16:creationId xmlns:a16="http://schemas.microsoft.com/office/drawing/2014/main" id="{D9C2A768-C1F5-4B04-A098-EEDEAAD415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0782" y="1812279"/>
            <a:ext cx="4320000" cy="43792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Descreva o problema existente no local da ação que motivou o projeto.</a:t>
            </a:r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E95F6C0-8833-4D2A-A976-1B6BF52AF830}"/>
              </a:ext>
            </a:extLst>
          </p:cNvPr>
          <p:cNvSpPr/>
          <p:nvPr userDrawn="1"/>
        </p:nvSpPr>
        <p:spPr>
          <a:xfrm>
            <a:off x="5029200" y="1810662"/>
            <a:ext cx="4320000" cy="438252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EFFA262F-AD1A-4598-9471-56E8059D09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29200" y="1832114"/>
            <a:ext cx="4320000" cy="43396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Descreva os resultados que você espera obter com o desenvolvimento do projeto e a realização da ação.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2483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5A96A10-97DA-4057-B294-4007AEC23F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D9348E8A-1786-4D7D-9F4A-8599EAEA5E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752601"/>
            <a:ext cx="9720000" cy="4419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6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dirty="0"/>
              <a:t>Utilize referências para fundamentar o problema encontrado e a justificativa do seu projeto.</a:t>
            </a:r>
          </a:p>
        </p:txBody>
      </p:sp>
    </p:spTree>
    <p:extLst>
      <p:ext uri="{BB962C8B-B14F-4D97-AF65-F5344CB8AC3E}">
        <p14:creationId xmlns:p14="http://schemas.microsoft.com/office/powerpoint/2010/main" val="391956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DDED6052-EC55-4011-89FA-2116D4C201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82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5DE74F4-D589-4777-986F-2D84524C29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71AD018D-A116-4C0A-A022-394A91C157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052948"/>
            <a:ext cx="9906000" cy="44240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Descreva detalhadamente o seu projeto.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04077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692EEE02-7448-4D93-9D0B-724E4B7040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02661E9-7F1F-46BF-A75B-D51E6129309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2069770"/>
              </p:ext>
            </p:extLst>
          </p:nvPr>
        </p:nvGraphicFramePr>
        <p:xfrm>
          <a:off x="366772" y="2362912"/>
          <a:ext cx="9971279" cy="41481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760372695"/>
                    </a:ext>
                  </a:extLst>
                </a:gridCol>
                <a:gridCol w="6210020">
                  <a:extLst>
                    <a:ext uri="{9D8B030D-6E8A-4147-A177-3AD203B41FA5}">
                      <a16:colId xmlns:a16="http://schemas.microsoft.com/office/drawing/2014/main" val="1388191489"/>
                    </a:ext>
                  </a:extLst>
                </a:gridCol>
                <a:gridCol w="2389659">
                  <a:extLst>
                    <a:ext uri="{9D8B030D-6E8A-4147-A177-3AD203B41FA5}">
                      <a16:colId xmlns:a16="http://schemas.microsoft.com/office/drawing/2014/main" val="660235788"/>
                    </a:ext>
                  </a:extLst>
                </a:gridCol>
              </a:tblGrid>
              <a:tr h="82646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393344"/>
                  </a:ext>
                </a:extLst>
              </a:tr>
              <a:tr h="82646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085034"/>
                  </a:ext>
                </a:extLst>
              </a:tr>
              <a:tr h="82646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442527"/>
                  </a:ext>
                </a:extLst>
              </a:tr>
              <a:tr h="82646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55738"/>
                  </a:ext>
                </a:extLst>
              </a:tr>
              <a:tr h="842288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913208"/>
                  </a:ext>
                </a:extLst>
              </a:tr>
            </a:tbl>
          </a:graphicData>
        </a:graphic>
      </p:graphicFrame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D0209E35-173B-48DE-A0C6-B645318C3C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3076" y="2369909"/>
            <a:ext cx="6161124" cy="7989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atividade</a:t>
            </a:r>
            <a:endParaRPr lang="pt-BR" dirty="0"/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A9BBE95C-72DD-4199-9761-B17B9854CE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6771" y="2380561"/>
            <a:ext cx="1396305" cy="777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data</a:t>
            </a:r>
            <a:endParaRPr lang="pt-BR" dirty="0"/>
          </a:p>
        </p:txBody>
      </p:sp>
      <p:sp>
        <p:nvSpPr>
          <p:cNvPr id="11" name="Espaço Reservado para Texto 6">
            <a:extLst>
              <a:ext uri="{FF2B5EF4-FFF2-40B4-BE49-F238E27FC236}">
                <a16:creationId xmlns:a16="http://schemas.microsoft.com/office/drawing/2014/main" id="{9F08EB1C-82EE-4727-979A-8A2095056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771" y="3209618"/>
            <a:ext cx="1396305" cy="777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data</a:t>
            </a:r>
            <a:endParaRPr lang="pt-BR" dirty="0"/>
          </a:p>
        </p:txBody>
      </p:sp>
      <p:sp>
        <p:nvSpPr>
          <p:cNvPr id="12" name="Espaço Reservado para Texto 6">
            <a:extLst>
              <a:ext uri="{FF2B5EF4-FFF2-40B4-BE49-F238E27FC236}">
                <a16:creationId xmlns:a16="http://schemas.microsoft.com/office/drawing/2014/main" id="{E67BA498-AD60-4753-816E-EDD309B8F4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771" y="4012271"/>
            <a:ext cx="1396305" cy="777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data</a:t>
            </a:r>
            <a:endParaRPr lang="pt-BR" dirty="0"/>
          </a:p>
        </p:txBody>
      </p:sp>
      <p:sp>
        <p:nvSpPr>
          <p:cNvPr id="13" name="Espaço Reservado para Texto 6">
            <a:extLst>
              <a:ext uri="{FF2B5EF4-FFF2-40B4-BE49-F238E27FC236}">
                <a16:creationId xmlns:a16="http://schemas.microsoft.com/office/drawing/2014/main" id="{C1D82ABC-88E2-45C0-8B78-E6279CF902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6771" y="4825902"/>
            <a:ext cx="1396305" cy="777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data</a:t>
            </a:r>
            <a:endParaRPr lang="pt-BR" dirty="0"/>
          </a:p>
        </p:txBody>
      </p:sp>
      <p:sp>
        <p:nvSpPr>
          <p:cNvPr id="14" name="Espaço Reservado para Texto 6">
            <a:extLst>
              <a:ext uri="{FF2B5EF4-FFF2-40B4-BE49-F238E27FC236}">
                <a16:creationId xmlns:a16="http://schemas.microsoft.com/office/drawing/2014/main" id="{318E58CE-0DF4-46ED-BE53-3548ECB408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6771" y="5703552"/>
            <a:ext cx="1396305" cy="777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data</a:t>
            </a:r>
            <a:endParaRPr lang="pt-BR" dirty="0"/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0E5A9D1D-670E-4467-B2F9-E2443123C7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56104" y="2355651"/>
            <a:ext cx="2350042" cy="82742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Duração (horas)</a:t>
            </a:r>
            <a:endParaRPr lang="pt-BR" dirty="0"/>
          </a:p>
        </p:txBody>
      </p:sp>
      <p:sp>
        <p:nvSpPr>
          <p:cNvPr id="16" name="Espaço Reservado para Texto 6">
            <a:extLst>
              <a:ext uri="{FF2B5EF4-FFF2-40B4-BE49-F238E27FC236}">
                <a16:creationId xmlns:a16="http://schemas.microsoft.com/office/drawing/2014/main" id="{53A454B6-DC73-4FBD-8EB7-E047F8830D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3076" y="3198966"/>
            <a:ext cx="6161124" cy="7989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atividade</a:t>
            </a:r>
            <a:endParaRPr lang="pt-BR" dirty="0"/>
          </a:p>
        </p:txBody>
      </p:sp>
      <p:sp>
        <p:nvSpPr>
          <p:cNvPr id="17" name="Espaço Reservado para Texto 6">
            <a:extLst>
              <a:ext uri="{FF2B5EF4-FFF2-40B4-BE49-F238E27FC236}">
                <a16:creationId xmlns:a16="http://schemas.microsoft.com/office/drawing/2014/main" id="{DD61C159-DBE1-4ADB-AF68-ACBE97E1E6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63076" y="4001619"/>
            <a:ext cx="6161124" cy="7989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atividade</a:t>
            </a:r>
            <a:endParaRPr lang="pt-BR" dirty="0"/>
          </a:p>
        </p:txBody>
      </p:sp>
      <p:sp>
        <p:nvSpPr>
          <p:cNvPr id="18" name="Espaço Reservado para Texto 6">
            <a:extLst>
              <a:ext uri="{FF2B5EF4-FFF2-40B4-BE49-F238E27FC236}">
                <a16:creationId xmlns:a16="http://schemas.microsoft.com/office/drawing/2014/main" id="{AA582424-E05E-4BFD-AE9D-5D3606377A6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63076" y="4815250"/>
            <a:ext cx="6161124" cy="7989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atividade</a:t>
            </a:r>
            <a:endParaRPr lang="pt-BR" dirty="0"/>
          </a:p>
        </p:txBody>
      </p:sp>
      <p:sp>
        <p:nvSpPr>
          <p:cNvPr id="19" name="Espaço Reservado para Texto 6">
            <a:extLst>
              <a:ext uri="{FF2B5EF4-FFF2-40B4-BE49-F238E27FC236}">
                <a16:creationId xmlns:a16="http://schemas.microsoft.com/office/drawing/2014/main" id="{877256AA-B903-4947-B0AE-DD4D199E95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63076" y="5655337"/>
            <a:ext cx="6161124" cy="7989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atividade</a:t>
            </a:r>
            <a:endParaRPr lang="pt-BR" dirty="0"/>
          </a:p>
        </p:txBody>
      </p:sp>
      <p:sp>
        <p:nvSpPr>
          <p:cNvPr id="20" name="Espaço Reservado para Texto 6">
            <a:extLst>
              <a:ext uri="{FF2B5EF4-FFF2-40B4-BE49-F238E27FC236}">
                <a16:creationId xmlns:a16="http://schemas.microsoft.com/office/drawing/2014/main" id="{1FF1EFFF-B725-4CE2-B072-B6D4B46B3B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56104" y="3184708"/>
            <a:ext cx="2350042" cy="82742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Duração (horas)</a:t>
            </a:r>
            <a:endParaRPr lang="pt-BR" dirty="0"/>
          </a:p>
        </p:txBody>
      </p:sp>
      <p:sp>
        <p:nvSpPr>
          <p:cNvPr id="21" name="Espaço Reservado para Texto 6">
            <a:extLst>
              <a:ext uri="{FF2B5EF4-FFF2-40B4-BE49-F238E27FC236}">
                <a16:creationId xmlns:a16="http://schemas.microsoft.com/office/drawing/2014/main" id="{B25D34D1-5863-4AEA-B557-ACFCE94AC72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56104" y="4025108"/>
            <a:ext cx="2350042" cy="7519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Duração (horas)</a:t>
            </a:r>
            <a:endParaRPr lang="pt-BR" dirty="0"/>
          </a:p>
        </p:txBody>
      </p:sp>
      <p:sp>
        <p:nvSpPr>
          <p:cNvPr id="22" name="Espaço Reservado para Texto 6">
            <a:extLst>
              <a:ext uri="{FF2B5EF4-FFF2-40B4-BE49-F238E27FC236}">
                <a16:creationId xmlns:a16="http://schemas.microsoft.com/office/drawing/2014/main" id="{B15687B9-662C-45B0-995D-91A39818AC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56104" y="4825902"/>
            <a:ext cx="2350042" cy="80251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Duração (horas)</a:t>
            </a:r>
            <a:endParaRPr lang="pt-BR" dirty="0"/>
          </a:p>
        </p:txBody>
      </p:sp>
      <p:sp>
        <p:nvSpPr>
          <p:cNvPr id="23" name="Espaço Reservado para Texto 6">
            <a:extLst>
              <a:ext uri="{FF2B5EF4-FFF2-40B4-BE49-F238E27FC236}">
                <a16:creationId xmlns:a16="http://schemas.microsoft.com/office/drawing/2014/main" id="{229F03BA-C4C1-4CAA-9CE3-50A2E3FA9A1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56104" y="5664803"/>
            <a:ext cx="2350042" cy="82742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Duração (horas)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1417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A5BAAC3-8098-470D-8EA7-33B95F86E6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DEED1F50-BD42-4B9A-A5FF-64635BC1EA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1133" y="2133600"/>
            <a:ext cx="9754449" cy="1471613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rgbClr val="012F7F"/>
                </a:solidFill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Detalhar metodologia utilizada.</a:t>
            </a:r>
            <a:endParaRPr lang="pt-BR" dirty="0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972A1917-BB0C-4986-9DC9-355298680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1133" y="4474348"/>
            <a:ext cx="9753600" cy="151451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Indique os materiais necessários.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6168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8C68390-42A1-4509-B19C-E3E9CCC923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65F484DB-1B94-4971-9C58-3FE21540FC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0284" y="2215857"/>
            <a:ext cx="9754449" cy="4032543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rgbClr val="012F7F"/>
                </a:solidFill>
              </a:defRPr>
            </a:lvl1pPr>
          </a:lstStyle>
          <a:p>
            <a:pPr lvl="0"/>
            <a:r>
              <a:rPr lang="pt-BR" dirty="0">
                <a:latin typeface="+mn-lt"/>
              </a:rPr>
              <a:t>Indicar o nome dos participantes e suas respectivas funções.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0982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813E4DF-0F0A-415C-81FC-69BD075D13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E0BBDF06-F365-48CC-953C-6E831095AB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4495800"/>
            <a:ext cx="9753600" cy="209007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rgbClr val="012F7F"/>
                </a:solidFill>
              </a:defRPr>
            </a:lvl1pPr>
          </a:lstStyle>
          <a:p>
            <a:pPr lvl="0"/>
            <a:r>
              <a:rPr lang="pt-BR" dirty="0">
                <a:latin typeface="+mn-lt"/>
              </a:rPr>
              <a:t>Indicar a data programada para a ação.</a:t>
            </a:r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8ED5209D-D8A5-4927-B676-B6A024124C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166" y="1752600"/>
            <a:ext cx="9753600" cy="15240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rgbClr val="012F7F"/>
                </a:solidFill>
              </a:defRPr>
            </a:lvl1pPr>
          </a:lstStyle>
          <a:p>
            <a:pPr lvl="0"/>
            <a:r>
              <a:rPr lang="pt-BR" dirty="0">
                <a:latin typeface="+mn-lt"/>
              </a:rPr>
              <a:t>Indicar os parceiros.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5849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B1862D-1997-4DD2-ADE8-CCBB42DCEF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73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3C0CFD8-E343-4216-84B0-9A4CDA0E98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7A6C12CA-0870-4620-8B9F-A590806C4E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0783" y="1988515"/>
            <a:ext cx="9720000" cy="105779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4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Informe a quantidade de pessoas que participaram da ação.</a:t>
            </a:r>
            <a:endParaRPr lang="pt-BR" dirty="0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C13DE7F6-1A30-4565-8429-B11E6473FB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83" y="3687873"/>
            <a:ext cx="9720000" cy="10602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4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Informe quais os Objetivos do Desenvolvimento Sustentável foram trabalhados na ação.</a:t>
            </a:r>
            <a:endParaRPr lang="pt-BR" dirty="0"/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34A3A04D-062E-4757-A073-D6768369D8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0783" y="5382530"/>
            <a:ext cx="9720000" cy="10370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4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Informe a quantidade estimada de pessoas que podem se beneficiar futuramente da ação.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5091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B8C358D-8C6D-4319-B167-ADC0FE67B2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048EF0AC-9119-4DC0-ABC7-EC3D3AA36E93}"/>
              </a:ext>
            </a:extLst>
          </p:cNvPr>
          <p:cNvSpPr/>
          <p:nvPr userDrawn="1"/>
        </p:nvSpPr>
        <p:spPr>
          <a:xfrm>
            <a:off x="360567" y="1719215"/>
            <a:ext cx="2839833" cy="170978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spaço Reservado para Imagem 4">
            <a:extLst>
              <a:ext uri="{FF2B5EF4-FFF2-40B4-BE49-F238E27FC236}">
                <a16:creationId xmlns:a16="http://schemas.microsoft.com/office/drawing/2014/main" id="{F3232E9B-BE40-4EE0-A790-FF0595B9CC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1475" y="1719263"/>
            <a:ext cx="2838450" cy="17097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pt-BR" sz="1800" kern="1200" dirty="0" smtClean="0">
                <a:solidFill>
                  <a:srgbClr val="012F7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379712B-FC8A-42BF-8A00-33D13480178A}"/>
              </a:ext>
            </a:extLst>
          </p:cNvPr>
          <p:cNvSpPr/>
          <p:nvPr userDrawn="1"/>
        </p:nvSpPr>
        <p:spPr>
          <a:xfrm>
            <a:off x="3550059" y="1719167"/>
            <a:ext cx="2839833" cy="170978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Imagem 4">
            <a:extLst>
              <a:ext uri="{FF2B5EF4-FFF2-40B4-BE49-F238E27FC236}">
                <a16:creationId xmlns:a16="http://schemas.microsoft.com/office/drawing/2014/main" id="{DCF9018E-8507-4D26-A554-AF27FDCBA2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60967" y="1719215"/>
            <a:ext cx="2838450" cy="17097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pt-BR" sz="1800" kern="1200" dirty="0" smtClean="0">
                <a:solidFill>
                  <a:srgbClr val="012F7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B427923-E4D9-4629-80D0-0D5DF84350E3}"/>
              </a:ext>
            </a:extLst>
          </p:cNvPr>
          <p:cNvSpPr/>
          <p:nvPr userDrawn="1"/>
        </p:nvSpPr>
        <p:spPr>
          <a:xfrm>
            <a:off x="6768693" y="1719119"/>
            <a:ext cx="2839833" cy="170978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spaço Reservado para Imagem 4">
            <a:extLst>
              <a:ext uri="{FF2B5EF4-FFF2-40B4-BE49-F238E27FC236}">
                <a16:creationId xmlns:a16="http://schemas.microsoft.com/office/drawing/2014/main" id="{8D2D44C3-35CF-44A6-B911-5A520C8DC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79601" y="1719167"/>
            <a:ext cx="2838450" cy="17097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pt-BR" sz="1800" kern="1200" dirty="0" smtClean="0">
                <a:solidFill>
                  <a:srgbClr val="012F7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666EC1A-F561-4084-B6A5-58D1D2DC5C98}"/>
              </a:ext>
            </a:extLst>
          </p:cNvPr>
          <p:cNvSpPr/>
          <p:nvPr userDrawn="1"/>
        </p:nvSpPr>
        <p:spPr>
          <a:xfrm>
            <a:off x="369276" y="3901580"/>
            <a:ext cx="2839833" cy="170978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spaço Reservado para Imagem 4">
            <a:extLst>
              <a:ext uri="{FF2B5EF4-FFF2-40B4-BE49-F238E27FC236}">
                <a16:creationId xmlns:a16="http://schemas.microsoft.com/office/drawing/2014/main" id="{08573461-07DC-44F2-A8BB-CCBF006A15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0184" y="3901628"/>
            <a:ext cx="2838450" cy="17097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pt-BR" sz="1800" kern="1200" dirty="0" smtClean="0">
                <a:solidFill>
                  <a:srgbClr val="012F7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endParaRPr lang="pt-BR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7EC1BC0-17FD-4367-808C-175C3390DFFD}"/>
              </a:ext>
            </a:extLst>
          </p:cNvPr>
          <p:cNvSpPr/>
          <p:nvPr userDrawn="1"/>
        </p:nvSpPr>
        <p:spPr>
          <a:xfrm>
            <a:off x="3565969" y="3922725"/>
            <a:ext cx="2839833" cy="170978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spaço Reservado para Imagem 4">
            <a:extLst>
              <a:ext uri="{FF2B5EF4-FFF2-40B4-BE49-F238E27FC236}">
                <a16:creationId xmlns:a16="http://schemas.microsoft.com/office/drawing/2014/main" id="{0D0A27A9-597B-4070-B090-FE78C0F36B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76877" y="3922773"/>
            <a:ext cx="2838450" cy="17097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pt-BR" sz="1800" kern="1200" dirty="0" smtClean="0">
                <a:solidFill>
                  <a:srgbClr val="012F7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endParaRPr lang="pt-BR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384FCFF-03C4-45BA-8DFA-C21AE234E0AB}"/>
              </a:ext>
            </a:extLst>
          </p:cNvPr>
          <p:cNvSpPr/>
          <p:nvPr userDrawn="1"/>
        </p:nvSpPr>
        <p:spPr>
          <a:xfrm>
            <a:off x="6784603" y="3930807"/>
            <a:ext cx="2839833" cy="170978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spaço Reservado para Imagem 4">
            <a:extLst>
              <a:ext uri="{FF2B5EF4-FFF2-40B4-BE49-F238E27FC236}">
                <a16:creationId xmlns:a16="http://schemas.microsoft.com/office/drawing/2014/main" id="{E3BB6889-671A-46CD-9BEF-7BAF50D8CE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511" y="3930855"/>
            <a:ext cx="2838450" cy="17097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pt-BR" sz="1800" kern="1200" dirty="0" smtClean="0">
                <a:solidFill>
                  <a:srgbClr val="012F7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endParaRPr lang="pt-BR" dirty="0"/>
          </a:p>
        </p:txBody>
      </p:sp>
      <p:sp>
        <p:nvSpPr>
          <p:cNvPr id="20" name="Espaço Reservado para Texto 6">
            <a:extLst>
              <a:ext uri="{FF2B5EF4-FFF2-40B4-BE49-F238E27FC236}">
                <a16:creationId xmlns:a16="http://schemas.microsoft.com/office/drawing/2014/main" id="{0F1BB790-EBFA-4863-B50C-5700C071DB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3505200"/>
            <a:ext cx="2838450" cy="3048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rgbClr val="012F7F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 dirty="0"/>
              <a:t>Inserir legenda</a:t>
            </a:r>
          </a:p>
        </p:txBody>
      </p:sp>
      <p:sp>
        <p:nvSpPr>
          <p:cNvPr id="21" name="Espaço Reservado para Texto 6">
            <a:extLst>
              <a:ext uri="{FF2B5EF4-FFF2-40B4-BE49-F238E27FC236}">
                <a16:creationId xmlns:a16="http://schemas.microsoft.com/office/drawing/2014/main" id="{B1D906ED-82E9-455F-82BC-9DDD7E40FD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56613" y="3499872"/>
            <a:ext cx="2838450" cy="3048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rgbClr val="012F7F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 dirty="0"/>
              <a:t>Inserir legenda</a:t>
            </a:r>
          </a:p>
        </p:txBody>
      </p:sp>
      <p:sp>
        <p:nvSpPr>
          <p:cNvPr id="22" name="Espaço Reservado para Texto 6">
            <a:extLst>
              <a:ext uri="{FF2B5EF4-FFF2-40B4-BE49-F238E27FC236}">
                <a16:creationId xmlns:a16="http://schemas.microsoft.com/office/drawing/2014/main" id="{DAF5A249-B363-4301-B2DE-6D2208630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786" y="5694097"/>
            <a:ext cx="2838450" cy="3048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rgbClr val="012F7F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 dirty="0"/>
              <a:t>Inserir legenda</a:t>
            </a:r>
          </a:p>
        </p:txBody>
      </p:sp>
      <p:sp>
        <p:nvSpPr>
          <p:cNvPr id="23" name="Espaço Reservado para Texto 6">
            <a:extLst>
              <a:ext uri="{FF2B5EF4-FFF2-40B4-BE49-F238E27FC236}">
                <a16:creationId xmlns:a16="http://schemas.microsoft.com/office/drawing/2014/main" id="{E8DE79EE-13E1-4DC2-9AEF-F456F2C467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95801" y="5694097"/>
            <a:ext cx="2838450" cy="3048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rgbClr val="012F7F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 dirty="0"/>
              <a:t>Inserir legenda</a:t>
            </a:r>
          </a:p>
        </p:txBody>
      </p:sp>
      <p:sp>
        <p:nvSpPr>
          <p:cNvPr id="24" name="Espaço Reservado para Texto 6">
            <a:extLst>
              <a:ext uri="{FF2B5EF4-FFF2-40B4-BE49-F238E27FC236}">
                <a16:creationId xmlns:a16="http://schemas.microsoft.com/office/drawing/2014/main" id="{27185261-F05F-4397-A52A-D50B08A901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99865" y="5694097"/>
            <a:ext cx="2838450" cy="3048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rgbClr val="012F7F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 dirty="0"/>
              <a:t>Inserir legenda</a:t>
            </a:r>
          </a:p>
        </p:txBody>
      </p:sp>
      <p:sp>
        <p:nvSpPr>
          <p:cNvPr id="25" name="Espaço Reservado para Texto 6">
            <a:extLst>
              <a:ext uri="{FF2B5EF4-FFF2-40B4-BE49-F238E27FC236}">
                <a16:creationId xmlns:a16="http://schemas.microsoft.com/office/drawing/2014/main" id="{95415010-71CE-4E8E-B1F2-A64DC191CB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601" y="3499872"/>
            <a:ext cx="2838450" cy="3048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rgbClr val="012F7F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 dirty="0"/>
              <a:t>Inserir legenda</a:t>
            </a:r>
          </a:p>
        </p:txBody>
      </p:sp>
    </p:spTree>
    <p:extLst>
      <p:ext uri="{BB962C8B-B14F-4D97-AF65-F5344CB8AC3E}">
        <p14:creationId xmlns:p14="http://schemas.microsoft.com/office/powerpoint/2010/main" val="25099491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1DA8C93-0820-4C70-AF61-CAE4E0F9B9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3">
            <a:extLst>
              <a:ext uri="{FF2B5EF4-FFF2-40B4-BE49-F238E27FC236}">
                <a16:creationId xmlns:a16="http://schemas.microsoft.com/office/drawing/2014/main" id="{B0B4789F-1672-4331-8EDA-EEDC25279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719263"/>
            <a:ext cx="9753600" cy="4606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012F7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Utilize este espaço para suas considerações finais, conclusões e sugestões sobre o projeto desenvolvido.</a:t>
            </a:r>
          </a:p>
        </p:txBody>
      </p:sp>
    </p:spTree>
    <p:extLst>
      <p:ext uri="{BB962C8B-B14F-4D97-AF65-F5344CB8AC3E}">
        <p14:creationId xmlns:p14="http://schemas.microsoft.com/office/powerpoint/2010/main" val="41418368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D5D31DA-BA7D-4E29-9B86-7F0CE86AA6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3">
            <a:extLst>
              <a:ext uri="{FF2B5EF4-FFF2-40B4-BE49-F238E27FC236}">
                <a16:creationId xmlns:a16="http://schemas.microsoft.com/office/drawing/2014/main" id="{A72EA6DA-0A3C-4C47-89EA-35FB03BC03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1719262"/>
            <a:ext cx="11058525" cy="47577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7F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Inserir referências. </a:t>
            </a:r>
          </a:p>
        </p:txBody>
      </p:sp>
    </p:spTree>
    <p:extLst>
      <p:ext uri="{BB962C8B-B14F-4D97-AF65-F5344CB8AC3E}">
        <p14:creationId xmlns:p14="http://schemas.microsoft.com/office/powerpoint/2010/main" val="39504547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493A0FA-53BB-4853-9281-23A229948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2A73F0-2DF5-4BAC-B7F9-3A03A325F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5BF1EE-2676-4507-A64C-4329D297A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AD14D-6FE2-434B-B077-ABD7051529CC}" type="datetimeFigureOut">
              <a:rPr lang="pt-BR" smtClean="0"/>
              <a:t>30/08/2024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0431D1-AD4D-4420-BE7E-8C83A6862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850775-576D-4F90-A0DC-B37C2E480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A9B8-30B9-44B9-A18A-7B5B912FF6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8399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9" r:id="rId2"/>
    <p:sldLayoutId id="2147483670" r:id="rId3"/>
    <p:sldLayoutId id="2147483651" r:id="rId4"/>
    <p:sldLayoutId id="2147483652" r:id="rId5"/>
    <p:sldLayoutId id="214748368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6" r:id="rId18"/>
    <p:sldLayoutId id="2147483665" r:id="rId19"/>
    <p:sldLayoutId id="2147483667" r:id="rId20"/>
    <p:sldLayoutId id="2147483668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043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51DCB3BE-6341-46BA-A172-C9FC00BF94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>
              <a:defRPr sz="1400">
                <a:solidFill>
                  <a:srgbClr val="012F7F"/>
                </a:solidFill>
              </a:defRPr>
            </a:pPr>
            <a:r>
              <a:t>IA ou Verdade? Desinformação na Era da Inteligência Artificial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3A8E96-41BE-46DB-A0C7-AB6C810F93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>
              <a:defRPr sz="1400">
                <a:solidFill>
                  <a:srgbClr val="012F7F"/>
                </a:solidFill>
              </a:defRPr>
            </a:pPr>
            <a:r>
              <a:t>Prof. Orientador da Disciplina de Extensão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C27528E-B87A-4C65-A8CB-58E698E61A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52800" y="2926080"/>
            <a:ext cx="7315200" cy="609600"/>
          </a:xfrm>
        </p:spPr>
        <p:txBody>
          <a:bodyPr/>
          <a:lstStyle/>
          <a:p>
            <a:pPr>
              <a:defRPr sz="1400">
                <a:solidFill>
                  <a:srgbClr val="012F7F"/>
                </a:solidFill>
              </a:defRPr>
            </a:pPr>
            <a:r>
              <a:t>Enzo Gabriel de Godoy Andrade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E6750D6-7429-4857-94BF-6895FFF5C2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52800" y="3566160"/>
            <a:ext cx="7315200" cy="655320"/>
          </a:xfrm>
        </p:spPr>
        <p:txBody>
          <a:bodyPr/>
          <a:lstStyle/>
          <a:p>
            <a:pPr>
              <a:defRPr sz="1400">
                <a:solidFill>
                  <a:srgbClr val="012F7F"/>
                </a:solidFill>
              </a:defRPr>
            </a:pPr>
            <a:r>
              <a:t>Inserir RA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4220FA7-52D5-47E5-8569-7730D661339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>
              <a:defRPr sz="1400">
                <a:solidFill>
                  <a:srgbClr val="012F7F"/>
                </a:solidFill>
              </a:defRPr>
            </a:pPr>
            <a:r>
              <a:t>Bacharelado em Engenharia da Computação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C261E41C-3B0C-4B85-8215-B0250CBFB4E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>
              <a:defRPr sz="1400">
                <a:solidFill>
                  <a:srgbClr val="012F7F"/>
                </a:solidFill>
              </a:defRPr>
            </a:pPr>
            <a:r>
              <a:t>1º Semestre de 2026</a:t>
            </a:r>
          </a:p>
        </p:txBody>
      </p:sp>
    </p:spTree>
    <p:extLst>
      <p:ext uri="{BB962C8B-B14F-4D97-AF65-F5344CB8AC3E}">
        <p14:creationId xmlns:p14="http://schemas.microsoft.com/office/powerpoint/2010/main" val="4083983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4415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3E147EB-D3C2-43A3-9815-8B84486745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200"/>
            </a:pPr>
            <a:r>
              <a:t>Ação realizada em ambiente escolar e comunitário digital, conectando estudantes, jovens e adultos por meio de smartphones e computadores para oficina prática de letramento midiático.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20B812-1E51-4519-B07F-F55B9E3D87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200"/>
            </a:pPr>
            <a:r>
              <a:t>Constatou-se intensa exposição cotidiana a redes sociais aliada à vulnerabilidade crítica diante de conteúdos gerados por Inteligência Artificial (deepfakes, imagens sintéticas e notícias falsas).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9E44CA-4BC7-4253-A683-9EEAA9DDC0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 sz="1200"/>
            </a:pPr>
            <a:r>
              <a:t>Público-alvo de jovens e adultos (a partir de 15 anos). Participaram diretamente 11 pessoas de forma completa na oficina, com previsão de impacto indireto superior a 200 pessoas.</a:t>
            </a:r>
          </a:p>
        </p:txBody>
      </p:sp>
    </p:spTree>
    <p:extLst>
      <p:ext uri="{BB962C8B-B14F-4D97-AF65-F5344CB8AC3E}">
        <p14:creationId xmlns:p14="http://schemas.microsoft.com/office/powerpoint/2010/main" val="778002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098E84C-A09A-4B66-BAF9-709263261B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5189" y="1828801"/>
            <a:ext cx="9753600" cy="4419600"/>
          </a:xfrm>
        </p:spPr>
        <p:txBody>
          <a:bodyPr/>
          <a:lstStyle/>
          <a:p>
            <a:pPr>
              <a:defRPr sz="1100"/>
            </a:pPr>
            <a:r>
              <a:t>Objetivo Geral:</a:t>
            </a:r>
          </a:p>
          <a:p>
            <a:pPr>
              <a:defRPr sz="1100"/>
            </a:pPr>
            <a:r>
              <a:t>Capacitar cidadãos e estudantes no reconhecimento crítico de desinformação potencializada por Inteligência Artificial Generativa, desenvolvendo hábitos de checagem prévia ao compartilhamento.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Objetivos Específicos:</a:t>
            </a:r>
          </a:p>
          <a:p>
            <a:pPr>
              <a:defRPr sz="1100"/>
            </a:pPr>
            <a:r>
              <a:t>• Compreender o funcionamento e os impactos das fake news e mídias sintéticas;</a:t>
            </a:r>
          </a:p>
          <a:p>
            <a:pPr>
              <a:defRPr sz="1100"/>
            </a:pPr>
            <a:r>
              <a:t>• Ensinar a aplicação prática do Método PARE (Parar, Analisar, Rastrear, Examinar);</a:t>
            </a:r>
          </a:p>
          <a:p>
            <a:pPr>
              <a:defRPr sz="1100"/>
            </a:pPr>
            <a:r>
              <a:t>• Avaliar a evolução da turma através de pré-teste e pós-teste integrados à plataforma web;</a:t>
            </a:r>
          </a:p>
          <a:p>
            <a:pPr>
              <a:defRPr sz="1100"/>
            </a:pPr>
            <a:r>
              <a:t>• Fomentar a responsabilidade social e ética no ecossistema de comunicação digital.</a:t>
            </a:r>
          </a:p>
        </p:txBody>
      </p:sp>
    </p:spTree>
    <p:extLst>
      <p:ext uri="{BB962C8B-B14F-4D97-AF65-F5344CB8AC3E}">
        <p14:creationId xmlns:p14="http://schemas.microsoft.com/office/powerpoint/2010/main" val="3653260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6BA3AEA9-EF79-4FF8-A696-641C254AE5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6CE1E80-FBCA-4548-8193-4A9B3976BC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914197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10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29F0044-F990-417E-B262-D79CE21AED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defRPr sz="1200"/>
            </a:pPr>
            <a:r>
              <a:t>A crise informacional contemporânea e a democratização de modelos de IA generativa possibilitam a criação instantânea de textos, áudios e fotos hiper-realistas para fraudes, golpes e manipulação social sem que o usuário comum possua ferramentas cognitivas de defesa.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DDD919-0437-42B4-A778-B658DF1263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>
              <a:defRPr sz="1200"/>
            </a:pPr>
            <a:r>
              <a:t>Obteve-se 100% de assimilação positiva: todos os participantes declararam sentir-se mais preparados e seguros após a oficina. Verificou-se evolução real de até +150% nas notas individuais e nota média final de 4,8 / 5,0 no pós-teste.</a:t>
            </a:r>
          </a:p>
        </p:txBody>
      </p:sp>
    </p:spTree>
    <p:extLst>
      <p:ext uri="{BB962C8B-B14F-4D97-AF65-F5344CB8AC3E}">
        <p14:creationId xmlns:p14="http://schemas.microsoft.com/office/powerpoint/2010/main" val="836443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0929320-8DED-4A7E-84EE-CE41D5109A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783" y="1752601"/>
            <a:ext cx="9720000" cy="4419600"/>
          </a:xfrm>
        </p:spPr>
        <p:txBody>
          <a:bodyPr>
            <a:normAutofit/>
          </a:bodyPr>
          <a:lstStyle/>
          <a:p>
            <a:pPr>
              <a:defRPr sz="1100"/>
            </a:pPr>
            <a:r>
              <a:t>• Manuel Castells (A Sociedade em Rede): A autocomunicação de massa transforma cada cidadão em produtor e distribuidor de informação em rede.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• UNESCO / Vosoughi et al. (Science, MIT): Desinformação se espalha 6 vezes mais rápido do que fatos reais devido ao apelo emocional e novelty effect.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• Luciano Floridi (A Ética da Informação): Rompimento da evidência sensorial na era dos agentes e algoritmos de IA generativa.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• Paulo Freire (Pedagogia da Autonomia): Letramento midiático e autonomia crítica como pilares de cidadania consciente.</a:t>
            </a:r>
          </a:p>
        </p:txBody>
      </p:sp>
    </p:spTree>
    <p:extLst>
      <p:ext uri="{BB962C8B-B14F-4D97-AF65-F5344CB8AC3E}">
        <p14:creationId xmlns:p14="http://schemas.microsoft.com/office/powerpoint/2010/main" val="3508645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614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66E7B9B8-A285-4A0D-A7E0-899132D39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100"/>
            </a:pPr>
            <a:r>
              <a:t>Desenvolvimento e aplicação da plataforma web educativa 'IA ou Verdade?' estruturada em módulos: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1. Diagnóstico Inicial (Pré-teste): 5 questões mensurando hábitos espontâneos de checagem;</a:t>
            </a:r>
          </a:p>
          <a:p>
            <a:pPr>
              <a:defRPr sz="1100"/>
            </a:pPr>
            <a:r>
              <a:t>2. Método PARE: Guia conceitual dos 4 passos de verificação crítica rápida;</a:t>
            </a:r>
          </a:p>
          <a:p>
            <a:pPr>
              <a:defRPr sz="1100"/>
            </a:pPr>
            <a:r>
              <a:t>3. Simulador de Casos: 7 desafios práticos com fotos reais e imagens geradas por IA com devolutiva pedagógica imediata;</a:t>
            </a:r>
          </a:p>
          <a:p>
            <a:pPr>
              <a:defRPr sz="1100"/>
            </a:pPr>
            <a:r>
              <a:t>4. Pós-teste &amp; Feedback: Reavaliação das competências e registro da percepção de segurança;</a:t>
            </a:r>
          </a:p>
          <a:p>
            <a:pPr>
              <a:defRPr sz="1100"/>
            </a:pPr>
            <a:r>
              <a:t>5. Dashboard Analítico: Painel em tempo real com métricas e exportação de dados via PostgreSQL.</a:t>
            </a:r>
          </a:p>
        </p:txBody>
      </p:sp>
    </p:spTree>
    <p:extLst>
      <p:ext uri="{BB962C8B-B14F-4D97-AF65-F5344CB8AC3E}">
        <p14:creationId xmlns:p14="http://schemas.microsoft.com/office/powerpoint/2010/main" val="3440358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3216F99-E7C8-4223-BE5C-BF1344D28C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000"/>
            </a:pPr>
            <a:r>
              <a:t>Diagnóstico e autorização institucional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FC5D6C-E0D3-4D09-AAFC-6459ED1FED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defRPr sz="1000"/>
            </a:pPr>
            <a:r>
              <a:t>20/09/2026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3BED66-F8AC-4887-8242-161F82A05A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>
              <a:defRPr sz="1000"/>
            </a:pPr>
            <a:r>
              <a:t>Pesquisa teórica e fundamentação ABNT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4FC5E63-CA2C-4947-8B0C-607F2DACCC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>
              <a:defRPr sz="1000"/>
            </a:pPr>
            <a:r>
              <a:t>Engenharia de software (Next.js + PostgreSQL)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A979DD6-0E1B-4536-8555-7A94520EF1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>
              <a:defRPr sz="1000"/>
            </a:pPr>
            <a:r>
              <a:t>Aplicação da oficina e simulador prático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4BC5EF15-62B7-4431-9EDF-5560D63F7A0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>
              <a:defRPr sz="1000"/>
            </a:pPr>
            <a:r>
              <a:t>Consolidação estatística e relatório final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3386BAE-DB20-4BEA-B330-7AE8D28F75F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>
              <a:defRPr sz="1000"/>
            </a:pPr>
            <a:r>
              <a:t>3h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DD3B262A-CF37-4C21-8C18-85B61553CA8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>
              <a:defRPr sz="1000"/>
            </a:pPr>
            <a:r>
              <a:t>21/09/2026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321917A5-F69E-4883-9794-174C1F95DD5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>
              <a:defRPr sz="1000"/>
            </a:pPr>
            <a:r>
              <a:t>22/09/2026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465B53C9-1D2B-454F-9C31-5963940DC2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>
              <a:defRPr sz="1000"/>
            </a:pPr>
            <a:r>
              <a:t>23/09 e 24/09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A1BF940-6551-4824-AF40-621E94BBE9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>
              <a:defRPr sz="1000"/>
            </a:pPr>
            <a:r>
              <a:t>24/09/2026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2EBFBD13-8A38-4DAD-9E30-03B3D2D1011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>
              <a:defRPr sz="1000"/>
            </a:pPr>
            <a:r>
              <a:t>4h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9115408A-5FFA-4DFB-83BF-C547EAB238A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>
              <a:defRPr sz="1000"/>
            </a:pPr>
            <a:r>
              <a:t>7h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7C353DFD-914D-4B35-B856-85AD135720E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>
              <a:defRPr sz="1000"/>
            </a:pPr>
            <a:r>
              <a:t>2h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181ADE6E-F61B-489B-978C-18DC355054C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>
              <a:defRPr sz="1000"/>
            </a:pPr>
            <a:r>
              <a:t>4h</a:t>
            </a:r>
          </a:p>
        </p:txBody>
      </p:sp>
    </p:spTree>
    <p:extLst>
      <p:ext uri="{BB962C8B-B14F-4D97-AF65-F5344CB8AC3E}">
        <p14:creationId xmlns:p14="http://schemas.microsoft.com/office/powerpoint/2010/main" val="1615642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BA47173-4DA8-451C-9593-1B222D1E28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200"/>
            </a:pPr>
            <a:r>
              <a:t>Metodologia ativa, interativa e investigativa (Problem-Based Learning). O participante experimenta situações reais de desinformação no simulador, analisa pistas contextuais do Método PARE e consolida o aprendizado com feedback imediato.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FD2E08-744A-4C0F-B554-C9645F4824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200"/>
            </a:pPr>
            <a:r>
              <a:t>Smartphones e computadores com conexão à internet, navegadores web modernos, aplicação web interativa 'IA ou Verdade?' (Next.js 14, Supabase PostgreSQL, Tailwind CSS) e projetor multimídia.</a:t>
            </a:r>
          </a:p>
        </p:txBody>
      </p:sp>
    </p:spTree>
    <p:extLst>
      <p:ext uri="{BB962C8B-B14F-4D97-AF65-F5344CB8AC3E}">
        <p14:creationId xmlns:p14="http://schemas.microsoft.com/office/powerpoint/2010/main" val="188684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623E0C9F-F6B1-43BD-B0F3-EEAFB3DB00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100"/>
            </a:pPr>
            <a:r>
              <a:t>• Enzo Gabriel de Godoy Andrade (Aluno / Engenharia da Computação):</a:t>
            </a:r>
          </a:p>
          <a:p>
            <a:pPr>
              <a:defRPr sz="1100"/>
            </a:pPr>
            <a:r>
              <a:t>Idealização metodológica, pesquisa técnica, arquitetura de software, desenvolvimento full-stack da plataforma web em Next.js e banco de dados relacional, elaboração dos casos práticos e facilitação da oficina com os participantes.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• Professor Orientador:</a:t>
            </a:r>
          </a:p>
          <a:p>
            <a:pPr>
              <a:defRPr sz="1100"/>
            </a:pPr>
            <a:r>
              <a:t>Acompanhamento acadêmico, validação temática e orientação institucional do projeto de extensão universitária.</a:t>
            </a:r>
          </a:p>
        </p:txBody>
      </p:sp>
    </p:spTree>
    <p:extLst>
      <p:ext uri="{BB962C8B-B14F-4D97-AF65-F5344CB8AC3E}">
        <p14:creationId xmlns:p14="http://schemas.microsoft.com/office/powerpoint/2010/main" val="3373175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5084F4B-455C-4C77-AF67-C9C143C4A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200"/>
            </a:pPr>
            <a:r>
              <a:t>Realizada no primeiro semestre de 2026, com aplicação concentrada nos dias 23 e 24 de setembro de 2026.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AFE792-21A2-4E1F-97E0-6CEFA1E748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200"/>
            </a:pPr>
            <a:r>
              <a:t>Universidade Santo Amaro (UNISA) - Curso de Bacharelado em Engenharia da Computação; Comunidade escolar, estudantes de ensino médio/técnico e participantes voluntários.</a:t>
            </a:r>
          </a:p>
        </p:txBody>
      </p:sp>
    </p:spTree>
    <p:extLst>
      <p:ext uri="{BB962C8B-B14F-4D97-AF65-F5344CB8AC3E}">
        <p14:creationId xmlns:p14="http://schemas.microsoft.com/office/powerpoint/2010/main" val="3493643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907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EA54A2CE-1656-4AA8-AAD6-40A32632A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100"/>
            </a:pPr>
            <a:r>
              <a:t>11 participantes concluíram integralmente todas as etapas (pré-teste, método PARE, simulador de IA e pós-teste), registrando 100% de satisfação e aumento expressivo na acurácia.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1726D0-DAFB-42CF-90AD-C483613869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100"/>
            </a:pPr>
            <a:r>
              <a:t>• ODS 4 - Educação de Qualidade (Meta 4.4 e 4.7): Letramento midiático, alfabetização digital e pensamento analítico.</a:t>
            </a:r>
          </a:p>
          <a:p>
            <a:pPr>
              <a:defRPr sz="1100"/>
            </a:pPr>
            <a:r>
              <a:t>• ODS 16 - Paz, Justiça e Instituições Eficazes (Meta 16.10): Proteção ao acesso à informação e combate à desinformação polarizadora.</a:t>
            </a:r>
          </a:p>
          <a:p>
            <a:pPr>
              <a:defRPr sz="1100"/>
            </a:pPr>
            <a:r>
              <a:t>• ODS 9 - Indústria, Inovação e Infraestrutura (Meta 9.c): Uso de tecnologia moderna e reflexão ética sobre Inteligência Artificial.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12F77B-1E5D-425B-86B1-90FBE7A3D6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 sz="1100"/>
            </a:pPr>
            <a:r>
              <a:t>Estimativa de mais de 200 beneficiários indiretos pelo efeito multiplicador comunitário e pela permanência pública da plataforma web online para novos usuários e educadores.</a:t>
            </a:r>
          </a:p>
        </p:txBody>
      </p:sp>
    </p:spTree>
    <p:extLst>
      <p:ext uri="{BB962C8B-B14F-4D97-AF65-F5344CB8AC3E}">
        <p14:creationId xmlns:p14="http://schemas.microsoft.com/office/powerpoint/2010/main" val="1431610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B02A5091-0415-4616-8FB5-B8456251BF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1475" y="1719263"/>
            <a:ext cx="2838450" cy="1709737"/>
          </a:xfrm>
        </p:spPr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9A76E6F-E516-4F08-81DE-456792B513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92E8D11-6C28-4F0F-A679-F05305103E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2C9CE538-38AC-4D12-B6C9-E74D30856E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C0C33D8E-F3CB-462C-B9BF-59C5593645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C4B447DC-594B-4356-86C7-E57DC3735A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D1371083-F60A-4656-8960-F4F7FB2C06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defRPr sz="900"/>
            </a:pPr>
            <a:r>
              <a:t>Tela inicial e diagnóstico do participante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AB4A8BB3-5ED5-4172-A517-4F73B4A536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>
              <a:defRPr sz="900"/>
            </a:pPr>
            <a:r>
              <a:t>Módulo interativo do Método PARE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6E42448-11C5-4BC4-A605-5AB744E7D2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>
              <a:defRPr sz="900"/>
            </a:pPr>
            <a:r>
              <a:t>Simulador com análise de imagens por IA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103CBF5C-66F9-433F-B7A9-E515E39804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>
              <a:defRPr sz="900"/>
            </a:pPr>
            <a:r>
              <a:t>Avaliação e feedback pós-treinamento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6BF42813-AA64-49C1-A543-28DDB5E3E4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>
              <a:defRPr sz="900"/>
            </a:pPr>
            <a:r>
              <a:t>Painel analítico do facilitador com métricas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E1EE7336-0C0D-457E-92A4-D185BEE7D7F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>
              <a:defRPr sz="900"/>
            </a:pPr>
            <a:r>
              <a:t>Registro de banco de dados em tempo real</a:t>
            </a:r>
          </a:p>
        </p:txBody>
      </p:sp>
    </p:spTree>
    <p:extLst>
      <p:ext uri="{BB962C8B-B14F-4D97-AF65-F5344CB8AC3E}">
        <p14:creationId xmlns:p14="http://schemas.microsoft.com/office/powerpoint/2010/main" val="2942691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2195F1C-E1FC-4B4A-859C-75B7015E72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719263"/>
            <a:ext cx="9753600" cy="4606925"/>
          </a:xfrm>
        </p:spPr>
        <p:txBody>
          <a:bodyPr/>
          <a:lstStyle/>
          <a:p>
            <a:pPr>
              <a:defRPr sz="1100"/>
            </a:pPr>
            <a:r>
              <a:t>A ação de extensão demonstrou de forma contundente a relevância prática e social da Engenharia da Computação. O salto qualitativo dos participantes (com aumento de discernimento de até +150% e 100% de percepção de segurança informacional) comprova que o desenvolvimento de ferramentas tecnológicas associadas a metodologias ativas gera transformação social concreta.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O projeto cumpriu integralmente as diretrizes do MEC e do Sistema CONFEA/CREA, colocando a ciência da computação a serviço da verdade factual, da cidadania e da dignidade humana. Como sugestão futura, propõe-se expandir a plataforma para detecção de deepfakes em áudio e vídeos curtos.</a:t>
            </a:r>
          </a:p>
        </p:txBody>
      </p:sp>
    </p:spTree>
    <p:extLst>
      <p:ext uri="{BB962C8B-B14F-4D97-AF65-F5344CB8AC3E}">
        <p14:creationId xmlns:p14="http://schemas.microsoft.com/office/powerpoint/2010/main" val="2562343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AC6ACCF-635A-428A-A24D-867DBEACB1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900"/>
            </a:pPr>
            <a:r>
              <a:t>CASTELLS, Manuel. A Sociedade em Rede: A Era da Informação: Economia, Sociedade e Cultura. v. 1. São Paulo: Paz e Terra, 1999.</a:t>
            </a:r>
          </a:p>
          <a:p>
            <a:pPr>
              <a:defRPr sz="900"/>
            </a:pPr>
          </a:p>
          <a:p>
            <a:pPr>
              <a:defRPr sz="900"/>
            </a:pPr>
            <a:r>
              <a:t>FLORIDI, Luciano. The Ethics of Information. Oxford: Oxford University Press, 2013.</a:t>
            </a:r>
          </a:p>
          <a:p>
            <a:pPr>
              <a:defRPr sz="900"/>
            </a:pPr>
          </a:p>
          <a:p>
            <a:pPr>
              <a:defRPr sz="900"/>
            </a:pPr>
            <a:r>
              <a:t>FREIRE, Paulo. Pedagogia da Autonomia: Saberes necessários à prática educativa. São Paulo: Paz e Terra, 1996.</a:t>
            </a:r>
          </a:p>
          <a:p>
            <a:pPr>
              <a:defRPr sz="900"/>
            </a:pPr>
          </a:p>
          <a:p>
            <a:pPr>
              <a:defRPr sz="900"/>
            </a:pPr>
            <a:r>
              <a:t>ORGANIZAÇÃO DAS NAÇÕES UNIDAS (ONU). Transformando Nosso Mundo: A Agenda 2030 para o Desenvolvimento Sustentável. Nova York: Nações Unidas, 2015.</a:t>
            </a:r>
          </a:p>
          <a:p>
            <a:pPr>
              <a:defRPr sz="900"/>
            </a:pPr>
          </a:p>
          <a:p>
            <a:pPr>
              <a:defRPr sz="900"/>
            </a:pPr>
            <a:r>
              <a:t>POSSETTI, Julie; MATTHEWS, Alice. Jornalismo, Fake News e Desinformação: Manual para Educação e Treinamento em Jornalismo. Paris: UNESCO, 2018.</a:t>
            </a:r>
          </a:p>
          <a:p>
            <a:pPr>
              <a:defRPr sz="900"/>
            </a:pPr>
          </a:p>
          <a:p>
            <a:pPr>
              <a:defRPr sz="900"/>
            </a:pPr>
            <a:r>
              <a:t>VOSOUGHI, Soroush; ROY, Deb; ARAL, Sinan. The spread of true and false news online. Science, v. 359, n. 6380, p. 1146-1151, 2018.</a:t>
            </a:r>
          </a:p>
        </p:txBody>
      </p:sp>
    </p:spTree>
    <p:extLst>
      <p:ext uri="{BB962C8B-B14F-4D97-AF65-F5344CB8AC3E}">
        <p14:creationId xmlns:p14="http://schemas.microsoft.com/office/powerpoint/2010/main" val="41544865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Thais de Paula Ribeiro</dc:creator>
  <cp:lastModifiedBy>Thais de Paula Ribeiro</cp:lastModifiedBy>
  <cp:revision>25</cp:revision>
  <dcterms:created xsi:type="dcterms:W3CDTF">2024-05-29T18:30:15Z</dcterms:created>
  <dcterms:modified xsi:type="dcterms:W3CDTF">2024-08-30T12:55:53Z</dcterms:modified>
</cp:coreProperties>
</file>